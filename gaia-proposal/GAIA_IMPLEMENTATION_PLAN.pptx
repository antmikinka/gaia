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0">
                <a:solidFill>
                  <a:srgbClr val="FFFFFF"/>
                </a:solidFill>
                <a:latin typeface="Archivo Black"/>
              </a:defRPr>
            </a:pPr>
            <a:r>
              <a:t>GAIA 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F5722"/>
                </a:solidFill>
                <a:latin typeface="Space Grotesk"/>
              </a:defRPr>
            </a:pPr>
            <a:r>
              <a:t>Technical Architecture &amp; Development Roadmap</a:t>
            </a:r>
            <a:br/>
            <a:r>
              <a:t>Anthony Mikinka | github.com/antmikinka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>
                <a:solidFill>
                  <a:srgbClr val="FF5722"/>
                </a:solidFill>
                <a:latin typeface="Archivo Black"/>
              </a:defRPr>
            </a:pPr>
            <a: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FFFFFF"/>
                </a:solidFill>
                <a:latin typeface="Space Grotesk"/>
              </a:defRPr>
            </a:pPr>
            <a:r>
              <a:t>GAIA (Generalized Agent Intelligence Architecture)</a:t>
            </a:r>
          </a:p>
          <a:p>
            <a:pPr>
              <a:defRPr sz="1600">
                <a:solidFill>
                  <a:srgbClr val="FFFFFF"/>
                </a:solidFill>
                <a:latin typeface="Space Grotesk"/>
              </a:defRPr>
            </a:pPr>
          </a:p>
          <a:p>
            <a:pPr>
              <a:defRPr sz="1800">
                <a:solidFill>
                  <a:srgbClr val="FFFFFF"/>
                </a:solidFill>
                <a:latin typeface="Space Grotesk"/>
              </a:defRPr>
            </a:pPr>
            <a:r>
              <a:t>MISSION: Productize 'one prompt → complete feature' capability</a:t>
            </a:r>
          </a:p>
          <a:p>
            <a:pPr>
              <a:defRPr sz="1600">
                <a:solidFill>
                  <a:srgbClr val="FFFFFF"/>
                </a:solidFill>
                <a:latin typeface="Space Grotesk"/>
              </a:defRPr>
            </a:pPr>
          </a:p>
          <a:p>
            <a:pPr>
              <a:defRPr sz="1800" b="1">
                <a:solidFill>
                  <a:srgbClr val="FFFFFF"/>
                </a:solidFill>
                <a:latin typeface="Space Grotesk"/>
              </a:defRPr>
            </a:pPr>
            <a:r>
              <a:t>PROVEN FOUNDATION:</a:t>
            </a:r>
          </a:p>
          <a:p>
            <a:pPr lvl="1">
              <a:defRPr sz="1600">
                <a:solidFill>
                  <a:srgbClr val="FFFFFF"/>
                </a:solidFill>
                <a:latin typeface="Space Grotesk"/>
              </a:defRPr>
            </a:pPr>
            <a:r>
              <a:t>• Safe Haven: 8 production hooks running in Claude Code</a:t>
            </a:r>
          </a:p>
          <a:p>
            <a:pPr lvl="1">
              <a:defRPr sz="1600">
                <a:solidFill>
                  <a:srgbClr val="FFFFFF"/>
                </a:solidFill>
                <a:latin typeface="Space Grotesk"/>
              </a:defRPr>
            </a:pPr>
            <a:r>
              <a:t>• 99.8% test pass rate (1120/1122 tests)</a:t>
            </a:r>
          </a:p>
          <a:p>
            <a:pPr lvl="1">
              <a:defRPr sz="1600">
                <a:solidFill>
                  <a:srgbClr val="FFFFFF"/>
                </a:solidFill>
                <a:latin typeface="Space Grotesk"/>
              </a:defRPr>
            </a:pPr>
            <a:r>
              <a:t>• 41.8K+ BMAD-METHOD stars (template contributor)</a:t>
            </a:r>
          </a:p>
          <a:p>
            <a:pPr>
              <a:defRPr sz="1600">
                <a:solidFill>
                  <a:srgbClr val="FFFFFF"/>
                </a:solidFill>
                <a:latin typeface="Space Grotesk"/>
              </a:defRPr>
            </a:pPr>
          </a:p>
          <a:p>
            <a:pPr>
              <a:defRPr sz="1800">
                <a:solidFill>
                  <a:srgbClr val="FFFFFF"/>
                </a:solidFill>
                <a:latin typeface="Space Grotesk"/>
              </a:defRPr>
            </a:pPr>
            <a:r>
              <a:t>IMPLEMENTATION: 20-week phased delivery</a:t>
            </a:r>
          </a:p>
          <a:p>
            <a:pPr lvl="1">
              <a:defRPr sz="1600">
                <a:solidFill>
                  <a:srgbClr val="FFFFFF"/>
                </a:solidFill>
                <a:latin typeface="Space Grotesk"/>
              </a:defRPr>
            </a:pPr>
            <a:r>
              <a:t>• Phase 1: Core Pipeline Engine (Weeks 1-4)</a:t>
            </a:r>
          </a:p>
          <a:p>
            <a:pPr lvl="1">
              <a:defRPr sz="1600">
                <a:solidFill>
                  <a:srgbClr val="FFFFFF"/>
                </a:solidFill>
                <a:latin typeface="Space Grotesk"/>
              </a:defRPr>
            </a:pPr>
            <a:r>
              <a:t>• Phase 2: Productization (Weeks 5-12)</a:t>
            </a:r>
          </a:p>
          <a:p>
            <a:pPr lvl="1">
              <a:defRPr sz="1600">
                <a:solidFill>
                  <a:srgbClr val="FFFFFF"/>
                </a:solidFill>
                <a:latin typeface="Space Grotesk"/>
              </a:defRPr>
            </a:pPr>
            <a:r>
              <a:t>• Phase 3: AMD Ryzen AI Integration (Weeks 13-20)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solidFill>
                  <a:srgbClr val="FF5722"/>
                </a:solidFill>
                <a:latin typeface="Archivo Black"/>
              </a:defRPr>
            </a:pPr>
            <a:r>
              <a:t>Core Architecture: Recursive Iterative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5722"/>
                </a:solidFill>
                <a:latin typeface="Space Grotesk"/>
              </a:defRPr>
            </a:pPr>
            <a:r>
              <a:t>Quality-Gated Loop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05840"/>
            <a:ext cx="11612880" cy="4754880"/>
          </a:xfrm>
          <a:prstGeom prst="rect">
            <a:avLst/>
          </a:prstGeom>
          <a:solidFill>
            <a:srgbClr val="2D2D2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0"/>
            <a:ext cx="11430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/>
            <a:pPr>
              <a:defRPr sz="900">
                <a:solidFill>
                  <a:srgbClr val="FFFFFF"/>
                </a:solidFill>
                <a:latin typeface="Courier New"/>
              </a:defRPr>
            </a:pPr>
            <a:r>
              <a:t>┌─────────────────────────────────────────────────────────────────────────┐</a:t>
            </a:r>
            <a:br/>
            <a:r>
              <a:t>│              RECURSIVE ITERATIVE PIPELINE (Auto-Pilot)                  │</a:t>
            </a:r>
            <a:br/>
            <a:r>
              <a:t>├─────────────────────────────────────────────────────────────────────────┤</a:t>
            </a:r>
            <a:br/>
            <a:r>
              <a:t>│  USER GOAL → PLANNING → DEVELOPMENT → QUALITY → DECISION                │</a:t>
            </a:r>
            <a:br/>
            <a:r>
              <a:t>│                                     │                                    │</a:t>
            </a:r>
            <a:br/>
            <a:r>
              <a:t>│         ┌───────────────────────────┴────────────────────────────┐      │</a:t>
            </a:r>
            <a:br/>
            <a:r>
              <a:t>│         │                     QUALITY GATE                        │      │</a:t>
            </a:r>
            <a:br/>
            <a:r>
              <a:t>│         │                                                         │      │</a:t>
            </a:r>
            <a:br/>
            <a:r>
              <a:t>│         │   Score &gt;= Threshold?                                   │      │</a:t>
            </a:r>
            <a:br/>
            <a:r>
              <a:t>│         │                                                         │      │</a:t>
            </a:r>
            <a:br/>
            <a:r>
              <a:t>│         │   YES → @software-program-manager → SHIP ✓             │      │</a:t>
            </a:r>
            <a:br/>
            <a:r>
              <a:t>│         │    │                                                    │      │</a:t>
            </a:r>
            <a:br/>
            <a:r>
              <a:t>│         │   NO  → Defects → Loop back to PLANNING                │      │</a:t>
            </a:r>
            <a:br/>
            <a:r>
              <a:t>│         │         (Unlimited iterations until quality met)        │      │</a:t>
            </a:r>
            <a:br/>
            <a:r>
              <a:t>│         └─────────────────────────────────────────────────────────┘      │</a:t>
            </a:r>
            <a:br/>
            <a:r>
              <a:t>└─────────────────────────────────────────────────────────────────────────┘</a:t>
            </a:r>
            <a:br/>
            <a:br/>
            <a:r>
              <a:t>    KEY INNOVATION: No artificial max iterations. Continues until quality &gt;= threshold.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solidFill>
                  <a:srgbClr val="FF5722"/>
                </a:solidFill>
                <a:latin typeface="Archivo Black"/>
              </a:defRPr>
            </a:pPr>
            <a:r>
              <a:t>Pipeline Templates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914400"/>
          <a:ext cx="1124712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73152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rchivo Black"/>
                        </a:defRPr>
                      </a:pPr>
                      <a:r>
                        <a:t>Template</a:t>
                      </a:r>
                    </a:p>
                  </a:txBody>
                  <a:tcPr>
                    <a:solidFill>
                      <a:srgbClr val="FF57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rchivo Black"/>
                        </a:defRPr>
                      </a:pPr>
                      <a:r>
                        <a:t>Quality Threshold</a:t>
                      </a:r>
                    </a:p>
                  </a:txBody>
                  <a:tcPr>
                    <a:solidFill>
                      <a:srgbClr val="FF57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rchivo Black"/>
                        </a:defRPr>
                      </a:pPr>
                      <a:r>
                        <a:t>Agent Sequence</a:t>
                      </a:r>
                    </a:p>
                  </a:txBody>
                  <a:tcPr>
                    <a:solidFill>
                      <a:srgbClr val="FF57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rchivo Black"/>
                        </a:defRPr>
                      </a:pPr>
                      <a:r>
                        <a:t>Use Case</a:t>
                      </a:r>
                    </a:p>
                  </a:txBody>
                  <a:tcPr>
                    <a:solidFill>
                      <a:srgbClr val="FF5722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STANDARD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90/100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Planning → Dev → QA → Manager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Features, APIs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RAPID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75/100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Planning → Dev → QA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Prototypes, MVPs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ENTERPRISE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95/100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Planning → Dev → QA → Security → Perf → Mgr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Production, Security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DOCUMENTATION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85/100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Tech Writer → Reviewer → Editor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API docs, guides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solidFill>
                  <a:srgbClr val="FF5722"/>
                </a:solidFill>
                <a:latin typeface="Archivo Black"/>
              </a:defRPr>
            </a:pPr>
            <a:r>
              <a:t>Quality Scoring System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1247120" cy="457200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/>
            <a:pPr>
              <a:defRPr sz="1100">
                <a:solidFill>
                  <a:srgbClr val="FFFFFF"/>
                </a:solidFill>
                <a:latin typeface="Courier New"/>
              </a:defRPr>
            </a:pPr>
            <a:r>
              <a:t>QUALITY WEIGHTS (Standard Template):</a:t>
            </a:r>
            <a:br/>
            <a:r>
              <a:t>├── Code Quality:........ 25%  (Syntax, style, complexity, DRY, SOLID)</a:t>
            </a:r>
            <a:br/>
            <a:r>
              <a:t>├── Requirements:........ 25%  (Feature completeness, edge cases)</a:t>
            </a:r>
            <a:br/>
            <a:r>
              <a:t>├── Testing:............. 20%  (Unit tests, integration tests, coverage)</a:t>
            </a:r>
            <a:br/>
            <a:r>
              <a:t>├── Documentation:....... 15%  (Docstrings, README, API docs)</a:t>
            </a:r>
            <a:br/>
            <a:r>
              <a:t>└── Best Practices:...... 15%  (Security, performance, accessibility)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solidFill>
                  <a:srgbClr val="FF5722"/>
                </a:solidFill>
                <a:latin typeface="Archivo Black"/>
              </a:defRPr>
            </a:pPr>
            <a:r>
              <a:t>Agent Categories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5722"/>
                </a:solidFill>
                <a:latin typeface="Space Grotesk"/>
              </a:defRPr>
            </a:pPr>
            <a:r>
              <a:t>Multi-Agent Selection 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47120" cy="457200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/>
            <a:pPr>
              <a:defRPr sz="1100">
                <a:solidFill>
                  <a:srgbClr val="FFFFFF"/>
                </a:solidFill>
                <a:latin typeface="Courier New"/>
              </a:defRPr>
            </a:pPr>
            <a:r>
              <a:t>AGENT CATEGORIES &amp; STATE-BASED ROUTING:</a:t>
            </a:r>
            <a:br/>
            <a:br/>
            <a:r>
              <a:t>┌──────────────────────────────────────────────────────────────────────────┐</a:t>
            </a:r>
            <a:br/>
            <a:r>
              <a:t>│ PLANNING:                                                                │</a:t>
            </a:r>
            <a:br/>
            <a:r>
              <a:t>│   ├── planning-analysis-strategist  → General technical planning         │</a:t>
            </a:r>
            <a:br/>
            <a:r>
              <a:t>│   ├── solutions-architect           → Complex system architecture        │</a:t>
            </a:r>
            <a:br/>
            <a:r>
              <a:t>│   ├── api-designer                  → REST/GraphQL API design            │</a:t>
            </a:r>
            <a:br/>
            <a:r>
              <a:t>│   └── database-architect            → Database schema &amp; data modeling    │</a:t>
            </a:r>
            <a:br/>
            <a:r>
              <a:t>├──────────────────────────────────────────────────────────────────────────┤</a:t>
            </a:r>
            <a:br/>
            <a:r>
              <a:t>│ DEVELOPMENT:                                                             │</a:t>
            </a:r>
            <a:br/>
            <a:r>
              <a:t>│   ├── senior-developer              → Full-stack generalist              │</a:t>
            </a:r>
            <a:br/>
            <a:r>
              <a:t>│   ├── frontend-specialist           → React, Vue, Angular UI             │</a:t>
            </a:r>
            <a:br/>
            <a:r>
              <a:t>│   ├── backend-specialist            → Server-side APIs                   │</a:t>
            </a:r>
            <a:br/>
            <a:r>
              <a:t>│   ├── devops-engineer               → CI/CD, infrastructure              │</a:t>
            </a:r>
            <a:br/>
            <a:r>
              <a:t>│   └── data-engineer                 → Data pipelines, ETL, ML            │</a:t>
            </a:r>
            <a:br/>
            <a:r>
              <a:t>├──────────────────────────────────────────────────────────────────────────┤</a:t>
            </a:r>
            <a:br/>
            <a:r>
              <a:t>│ REVIEW:                                                                  │</a:t>
            </a:r>
            <a:br/>
            <a:r>
              <a:t>│   ├── quality-reviewer              → General code quality               │</a:t>
            </a:r>
            <a:br/>
            <a:r>
              <a:t>│   ├── security-auditor              → Security vulnerabilities           │</a:t>
            </a:r>
            <a:br/>
            <a:r>
              <a:t>│   ├── performance-analyst           → Performance optimization           │</a:t>
            </a:r>
            <a:br/>
            <a:r>
              <a:t>│   ├── accessibility-reviewer        → WCAG compliance                    │</a:t>
            </a:r>
            <a:br/>
            <a:r>
              <a:t>│   └── test-coverage-analyzer        → Test quality assessment            │</a:t>
            </a:r>
            <a:br/>
            <a:r>
              <a:t>├──────────────────────────────────────────────────────────────────────────┤</a:t>
            </a:r>
            <a:br/>
            <a:r>
              <a:t>│ MANAGEMENT:                                                              │</a:t>
            </a:r>
            <a:br/>
            <a:r>
              <a:t>│   ├── software-program-manager      → Final approval                     │</a:t>
            </a:r>
            <a:br/>
            <a:r>
              <a:t>│   ├── technical-writer              → Documentation                      │</a:t>
            </a:r>
            <a:br/>
            <a:r>
              <a:t>│   └── release-manager               → Deployment coordination            │</a:t>
            </a:r>
            <a:br/>
            <a:r>
              <a:t>└──────────────────────────────────────────────────────────────────────────┘</a:t>
            </a:r>
            <a:br/>
            <a:br/>
            <a:r>
              <a:t>    AUTO-SELECTION: Based on task triggers ("api" → api-designer, "security" → security-auditor)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solidFill>
                  <a:srgbClr val="FF5722"/>
                </a:solidFill>
                <a:latin typeface="Archivo Black"/>
              </a:defRPr>
            </a:pPr>
            <a:r>
              <a:t>Implementation Phases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5722"/>
                </a:solidFill>
                <a:latin typeface="Space Grotesk"/>
              </a:defRPr>
            </a:pPr>
            <a:r>
              <a:t>20-Week Phased Delivery with Go/No-Go Gates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05840"/>
            <a:ext cx="11612880" cy="4754880"/>
          </a:xfrm>
          <a:prstGeom prst="rect">
            <a:avLst/>
          </a:prstGeom>
          <a:solidFill>
            <a:srgbClr val="2D2D2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0"/>
            <a:ext cx="11430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/>
            <a:pPr>
              <a:defRPr sz="900">
                <a:solidFill>
                  <a:srgbClr val="FFFFFF"/>
                </a:solidFill>
                <a:latin typeface="Courier New"/>
              </a:defRPr>
            </a:pPr>
            <a:r>
              <a:t>┌────────────────────────────────────────────────────────────────────┐</a:t>
            </a:r>
            <a:br/>
            <a:r>
              <a:t>│  PHASE 1 (Weeks 1-4): Core Pipeline Engine                         │</a:t>
            </a:r>
            <a:br/>
            <a:r>
              <a:t>│  ██████████                                                        │</a:t>
            </a:r>
            <a:br/>
            <a:r>
              <a:t>│  • pipeline.py - Recursive loop engine                             │</a:t>
            </a:r>
            <a:br/>
            <a:r>
              <a:t>│  • quality_scorer.py - 25+ validation categories                   │</a:t>
            </a:r>
            <a:br/>
            <a:r>
              <a:t>│  • orchestrator.py - Agent coordination                            │</a:t>
            </a:r>
            <a:br/>
            <a:r>
              <a:t>│  • state_manager.py - Cross-phase state injection                  │</a:t>
            </a:r>
            <a:br/>
            <a:r>
              <a:t>│  [GO] - Quality threshold: 90/100                                  │</a:t>
            </a:r>
            <a:br/>
            <a:r>
              <a:t>├────────────────────────────────────────────────────────────────────┤</a:t>
            </a:r>
            <a:br/>
            <a:r>
              <a:t>│  PHASE 2 (Weeks 5-12): Productization                              │</a:t>
            </a:r>
            <a:br/>
            <a:r>
              <a:t>│  ████████████                                                      │</a:t>
            </a:r>
            <a:br/>
            <a:r>
              <a:t>│  • Hook System - Safe Haven style (8 hooks)                        │</a:t>
            </a:r>
            <a:br/>
            <a:r>
              <a:t>│  • Agent Registry - State-based routing                            │</a:t>
            </a:r>
            <a:br/>
            <a:r>
              <a:t>│  • Pipeline Templates - STANDARD/RAPID/ENTERPRISE/DOCUMENTATION    │</a:t>
            </a:r>
            <a:br/>
            <a:r>
              <a:t>│  • Test Suite - Unit, Integration, E2E                             │</a:t>
            </a:r>
            <a:br/>
            <a:r>
              <a:t>│  [CONDITIONAL GO - extend to 8 weeks if needed]                    │</a:t>
            </a:r>
            <a:br/>
            <a:r>
              <a:t>├────────────────────────────────────────────────────────────────────┤</a:t>
            </a:r>
            <a:br/>
            <a:r>
              <a:t>│  PHASE 3 (Weeks 13-20): AMD Ryzen AI Integration                   │</a:t>
            </a:r>
            <a:br/>
            <a:r>
              <a:t>│  ██████████                                                        │</a:t>
            </a:r>
            <a:br/>
            <a:r>
              <a:t>│  • Ryzen AI execution targets - CPU/GPU/NPU distribution           │</a:t>
            </a:r>
            <a:br/>
            <a:r>
              <a:t>│  • Local LLM - ONNX Runtime / DirectML                             │</a:t>
            </a:r>
            <a:br/>
            <a:r>
              <a:t>│  • Hardware-aware agent placement                                  │</a:t>
            </a:r>
            <a:br/>
            <a:r>
              <a:t>│  • Performance benchmarks - Target: 10x efficiency                 │</a:t>
            </a:r>
            <a:br/>
            <a:r>
              <a:t>│  [GO - AMD partnership dependent]                                  │</a:t>
            </a:r>
            <a:br/>
            <a:r>
              <a:t>└────────────────────────────────────────────────────────────────────┘</a:t>
            </a:r>
            <a:br/>
            <a:br/>
            <a:r>
              <a:t>    Total: 20 weeks (5 months) to production-ready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solidFill>
                  <a:srgbClr val="FF5722"/>
                </a:solidFill>
                <a:latin typeface="Archivo Black"/>
              </a:defRPr>
            </a:pPr>
            <a:r>
              <a:t>Phase 1: Core Pipeline Engine Deliverables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914400"/>
          <a:ext cx="1124712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73152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rchivo Black"/>
                        </a:defRPr>
                      </a:pPr>
                      <a:r>
                        <a:t>Component</a:t>
                      </a:r>
                    </a:p>
                  </a:txBody>
                  <a:tcPr>
                    <a:solidFill>
                      <a:srgbClr val="FF57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rchivo Black"/>
                        </a:defRPr>
                      </a:pPr>
                      <a:r>
                        <a:t>File</a:t>
                      </a:r>
                    </a:p>
                  </a:txBody>
                  <a:tcPr>
                    <a:solidFill>
                      <a:srgbClr val="FF57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rchivo Black"/>
                        </a:defRPr>
                      </a:pPr>
                      <a:r>
                        <a:t>Function</a:t>
                      </a:r>
                    </a:p>
                  </a:txBody>
                  <a:tcPr>
                    <a:solidFill>
                      <a:srgbClr val="FF57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rchivo Black"/>
                        </a:defRPr>
                      </a:pPr>
                      <a:r>
                        <a:t>Quality Target</a:t>
                      </a:r>
                    </a:p>
                  </a:txBody>
                  <a:tcPr>
                    <a:solidFill>
                      <a:srgbClr val="FF5722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Pipeline Engine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pipeline.py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Recursive loop with quality gates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90/100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Quality Scorer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quality_scorer.py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25+ validation categories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90/100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Orchestrator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orchestrator.py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Agent coordination layer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90/100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State Manager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state_manager.py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Cross-phase state injection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90/100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Config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config.py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Configuration management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90/100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solidFill>
                  <a:srgbClr val="FF5722"/>
                </a:solidFill>
                <a:latin typeface="Archivo Black"/>
              </a:defRPr>
            </a:pPr>
            <a:r>
              <a:t>Phase 2: Productization Deliverables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914400"/>
          <a:ext cx="1124712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73152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rchivo Black"/>
                        </a:defRPr>
                      </a:pPr>
                      <a:r>
                        <a:t>Component</a:t>
                      </a:r>
                    </a:p>
                  </a:txBody>
                  <a:tcPr>
                    <a:solidFill>
                      <a:srgbClr val="FF57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rchivo Black"/>
                        </a:defRPr>
                      </a:pPr>
                      <a:r>
                        <a:t>Files</a:t>
                      </a:r>
                    </a:p>
                  </a:txBody>
                  <a:tcPr>
                    <a:solidFill>
                      <a:srgbClr val="FF57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rchivo Black"/>
                        </a:defRPr>
                      </a:pPr>
                      <a:r>
                        <a:t>Function</a:t>
                      </a:r>
                    </a:p>
                  </a:txBody>
                  <a:tcPr>
                    <a:solidFill>
                      <a:srgbClr val="FF57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rchivo Black"/>
                        </a:defRPr>
                      </a:pPr>
                      <a:r>
                        <a:t>Quality Target</a:t>
                      </a:r>
                    </a:p>
                  </a:txBody>
                  <a:tcPr>
                    <a:solidFill>
                      <a:srgbClr val="FF5722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Hook 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4 Python hooks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Pre/Post validation, monitoring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90/100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Agent Registry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agent_registry.py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State-based routing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90/100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Templates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4 YAML configs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STANDARD/RAPID/ENTERPRISE/DOC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85/100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Test Suite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pytest tests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Unit/Integration/E2E coverage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95/100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solidFill>
                  <a:srgbClr val="FF5722"/>
                </a:solidFill>
                <a:latin typeface="Archivo Black"/>
              </a:defRPr>
            </a:pPr>
            <a:r>
              <a:t>Phase 3: AMD Ryzen AI Integration Deliverables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914400"/>
          <a:ext cx="1124712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73152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rchivo Black"/>
                        </a:defRPr>
                      </a:pPr>
                      <a:r>
                        <a:t>Component</a:t>
                      </a:r>
                    </a:p>
                  </a:txBody>
                  <a:tcPr>
                    <a:solidFill>
                      <a:srgbClr val="FF57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rchivo Black"/>
                        </a:defRPr>
                      </a:pPr>
                      <a:r>
                        <a:t>Technology</a:t>
                      </a:r>
                    </a:p>
                  </a:txBody>
                  <a:tcPr>
                    <a:solidFill>
                      <a:srgbClr val="FF57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rchivo Black"/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FF57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rchivo Black"/>
                        </a:defRPr>
                      </a:pPr>
                      <a:r>
                        <a:t>Quality Target</a:t>
                      </a:r>
                    </a:p>
                  </a:txBody>
                  <a:tcPr>
                    <a:solidFill>
                      <a:srgbClr val="FF5722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Ryzen AI Integration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CPU/GPU/NPU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Agent distribution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90/100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Local LLM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ONNX/DirectML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&lt;100ms latency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90/100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Hardware Routing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Placement logic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Automatic agent placement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90/100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Benchmarks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Performance report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10x efficiency gain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90/100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>
                <a:solidFill>
                  <a:srgbClr val="FF5722"/>
                </a:solidFill>
                <a:latin typeface="Archivo Black"/>
              </a:defRPr>
            </a:pPr>
            <a:r>
              <a:t>Quality Assurance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Space Grotesk"/>
              </a:defRPr>
            </a:pPr>
            <a:r>
              <a:t>MULTI-LAYER TESTING STRATEGY:</a:t>
            </a:r>
          </a:p>
          <a:p>
            <a:pPr>
              <a:defRPr sz="1600">
                <a:solidFill>
                  <a:srgbClr val="FFFFFF"/>
                </a:solidFill>
                <a:latin typeface="Space Grotesk"/>
              </a:defRPr>
            </a:pPr>
          </a:p>
          <a:p>
            <a:pPr>
              <a:defRPr sz="1400">
                <a:solidFill>
                  <a:srgbClr val="FFFFFF"/>
                </a:solidFill>
                <a:latin typeface="Space Grotesk"/>
              </a:defRPr>
            </a:pPr>
            <a:r>
              <a:t>┌─────────────────────────────────────────────┐</a:t>
            </a:r>
          </a:p>
          <a:p>
            <a:pPr>
              <a:defRPr sz="1400">
                <a:solidFill>
                  <a:srgbClr val="FFFFFF"/>
                </a:solidFill>
                <a:latin typeface="Space Grotesk"/>
              </a:defRPr>
            </a:pPr>
            <a:r>
              <a:t>│         E2E Tests (10%) - Playwright       │</a:t>
            </a:r>
          </a:p>
          <a:p>
            <a:pPr>
              <a:defRPr sz="1400">
                <a:solidFill>
                  <a:srgbClr val="FFFFFF"/>
                </a:solidFill>
                <a:latin typeface="Space Grotesk"/>
              </a:defRPr>
            </a:pPr>
            <a:r>
              <a:t>│    Integration Tests (20%) - pytest        │</a:t>
            </a:r>
          </a:p>
          <a:p>
            <a:pPr>
              <a:defRPr sz="1400">
                <a:solidFill>
                  <a:srgbClr val="FFFFFF"/>
                </a:solidFill>
                <a:latin typeface="Space Grotesk"/>
              </a:defRPr>
            </a:pPr>
            <a:r>
              <a:t>│       Unit Tests (70%) - pytest            │</a:t>
            </a:r>
          </a:p>
          <a:p>
            <a:pPr>
              <a:defRPr sz="1400">
                <a:solidFill>
                  <a:srgbClr val="FFFFFF"/>
                </a:solidFill>
                <a:latin typeface="Space Grotesk"/>
              </a:defRPr>
            </a:pPr>
            <a:r>
              <a:t>└─────────────────────────────────────────────┘</a:t>
            </a:r>
          </a:p>
          <a:p>
            <a:pPr>
              <a:defRPr sz="1600">
                <a:solidFill>
                  <a:srgbClr val="FFFFFF"/>
                </a:solidFill>
                <a:latin typeface="Space Grotesk"/>
              </a:defRPr>
            </a:pPr>
          </a:p>
          <a:p>
            <a:pPr>
              <a:defRPr sz="1800" b="1">
                <a:solidFill>
                  <a:srgbClr val="FFFFFF"/>
                </a:solidFill>
                <a:latin typeface="Space Grotesk"/>
              </a:defRPr>
            </a:pPr>
            <a:r>
              <a:t>QUALITY GATES:</a:t>
            </a:r>
          </a:p>
          <a:p>
            <a:pPr>
              <a:defRPr sz="1600">
                <a:solidFill>
                  <a:srgbClr val="FFFFFF"/>
                </a:solidFill>
                <a:latin typeface="Space Grotesk"/>
              </a:defRPr>
            </a:pPr>
            <a:r>
              <a:t>• Test Pass Rate: 99%+ target, &lt;95% alert</a:t>
            </a:r>
          </a:p>
          <a:p>
            <a:pPr>
              <a:defRPr sz="1600">
                <a:solidFill>
                  <a:srgbClr val="FFFFFF"/>
                </a:solidFill>
                <a:latin typeface="Space Grotesk"/>
              </a:defRPr>
            </a:pPr>
            <a:r>
              <a:t>• Pipeline Success Rate: 95%+ target</a:t>
            </a:r>
          </a:p>
          <a:p>
            <a:pPr>
              <a:defRPr sz="1600">
                <a:solidFill>
                  <a:srgbClr val="FFFFFF"/>
                </a:solidFill>
                <a:latin typeface="Space Grotesk"/>
              </a:defRPr>
            </a:pPr>
            <a:r>
              <a:t>• Average Iterations: &lt;3 target, &gt;5 alert</a:t>
            </a:r>
          </a:p>
          <a:p>
            <a:pPr>
              <a:defRPr sz="1600">
                <a:solidFill>
                  <a:srgbClr val="FFFFFF"/>
                </a:solidFill>
                <a:latin typeface="Space Grotesk"/>
              </a:defRPr>
            </a:pPr>
            <a:r>
              <a:t>• Quality Score: 90+ target, &lt;85 alert</a:t>
            </a:r>
          </a:p>
          <a:p>
            <a:pPr>
              <a:defRPr sz="1600">
                <a:solidFill>
                  <a:srgbClr val="FFFFFF"/>
                </a:solidFill>
                <a:latin typeface="Space Grotesk"/>
              </a:defRPr>
            </a:pPr>
            <a:r>
              <a:t>• Response Time: &lt;100ms target, &gt;500ms alert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solidFill>
                  <a:srgbClr val="FF5722"/>
                </a:solidFill>
                <a:latin typeface="Archivo Black"/>
              </a:defRPr>
            </a:pPr>
            <a:r>
              <a:t>Resource Requirements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914400"/>
          <a:ext cx="11247120" cy="5852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9424"/>
                <a:gridCol w="2249424"/>
                <a:gridCol w="2249424"/>
                <a:gridCol w="2249424"/>
                <a:gridCol w="2249424"/>
              </a:tblGrid>
              <a:tr h="73152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rchivo Black"/>
                        </a:defRPr>
                      </a:pPr>
                      <a:r>
                        <a:t>Role</a:t>
                      </a:r>
                    </a:p>
                  </a:txBody>
                  <a:tcPr>
                    <a:solidFill>
                      <a:srgbClr val="FF57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rchivo Black"/>
                        </a:defRPr>
                      </a:pPr>
                      <a:r>
                        <a:t>Phase 1</a:t>
                      </a:r>
                    </a:p>
                  </a:txBody>
                  <a:tcPr>
                    <a:solidFill>
                      <a:srgbClr val="FF57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rchivo Black"/>
                        </a:defRPr>
                      </a:pPr>
                      <a:r>
                        <a:t>Phase 2</a:t>
                      </a:r>
                    </a:p>
                  </a:txBody>
                  <a:tcPr>
                    <a:solidFill>
                      <a:srgbClr val="FF57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rchivo Black"/>
                        </a:defRPr>
                      </a:pPr>
                      <a:r>
                        <a:t>Phase 3</a:t>
                      </a:r>
                    </a:p>
                  </a:txBody>
                  <a:tcPr>
                    <a:solidFill>
                      <a:srgbClr val="FF57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rchivo Black"/>
                        </a:defRPr>
                      </a:pPr>
                      <a:r>
                        <a:t>Total FTE</a:t>
                      </a:r>
                    </a:p>
                  </a:txBody>
                  <a:tcPr>
                    <a:solidFill>
                      <a:srgbClr val="FF5722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Technical Writer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Senior Engineer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Backend Engineer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DevOps Engineer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QA Engineer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ML Engineer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A1A1A"/>
                          </a:solidFill>
                          <a:latin typeface="Space Grotesk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FF64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A1A1A"/>
                          </a:solidFill>
                          <a:latin typeface="Space Grotesk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64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A1A1A"/>
                          </a:solidFill>
                          <a:latin typeface="Space Grotesk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64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A1A1A"/>
                          </a:solidFill>
                          <a:latin typeface="Space Grotesk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64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A1A1A"/>
                          </a:solidFill>
                          <a:latin typeface="Space Grotesk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F643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solidFill>
                  <a:srgbClr val="FF5722"/>
                </a:solidFill>
                <a:latin typeface="Archivo Black"/>
              </a:defRPr>
            </a:pPr>
            <a:r>
              <a:t>Risk Analysis &amp; Mitigation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914400"/>
          <a:ext cx="1124712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73152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rchivo Black"/>
                        </a:defRPr>
                      </a:pPr>
                      <a:r>
                        <a:t>Risk</a:t>
                      </a:r>
                    </a:p>
                  </a:txBody>
                  <a:tcPr>
                    <a:solidFill>
                      <a:srgbClr val="FF57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rchivo Black"/>
                        </a:defRPr>
                      </a:pPr>
                      <a:r>
                        <a:t>Probability</a:t>
                      </a:r>
                    </a:p>
                  </a:txBody>
                  <a:tcPr>
                    <a:solidFill>
                      <a:srgbClr val="FF57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rchivo Black"/>
                        </a:defRPr>
                      </a:pPr>
                      <a:r>
                        <a:t>Impact</a:t>
                      </a:r>
                    </a:p>
                  </a:txBody>
                  <a:tcPr>
                    <a:solidFill>
                      <a:srgbClr val="FF57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rchivo Black"/>
                        </a:defRPr>
                      </a:pPr>
                      <a:r>
                        <a:t>Mitigation</a:t>
                      </a:r>
                    </a:p>
                  </a:txBody>
                  <a:tcPr>
                    <a:solidFill>
                      <a:srgbClr val="FF5722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Ryzen AI underperforms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Multi-hardware support roadmap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Quality gates fail at scale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Continuous validation, pilots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Hook system does not generalize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Test across domains early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Microsoft/Google copy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First-mover + AMD moat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Open source clones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Community building (BMAD model)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solidFill>
                  <a:srgbClr val="FF5722"/>
                </a:solidFill>
                <a:latin typeface="Archivo Black"/>
              </a:defRPr>
            </a:pPr>
            <a:r>
              <a:t>Success Metrics &amp; KPIs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914400"/>
          <a:ext cx="1124712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73152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rchivo Black"/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FF57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rchivo Black"/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FF57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rchivo Black"/>
                        </a:defRPr>
                      </a:pPr>
                      <a:r>
                        <a:t>Measurement</a:t>
                      </a:r>
                    </a:p>
                  </a:txBody>
                  <a:tcPr>
                    <a:solidFill>
                      <a:srgbClr val="FF57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rchivo Black"/>
                        </a:defRPr>
                      </a:pPr>
                      <a:r>
                        <a:t>Alert</a:t>
                      </a:r>
                    </a:p>
                  </a:txBody>
                  <a:tcPr>
                    <a:solidFill>
                      <a:srgbClr val="FF5722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Test Pass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99%+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Automated testing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&lt;95%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Quality 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90+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25+ category validation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&lt;85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Efficiency Gain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10x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Ryzen AI vs. cloud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&lt;5x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Pipeline Success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95%+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Success rate tracking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&lt;90%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Avg Iterations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&lt;3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Loop count tracking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&gt;5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solidFill>
                  <a:srgbClr val="FF5722"/>
                </a:solidFill>
                <a:latin typeface="Archivo Black"/>
              </a:defRPr>
            </a:pPr>
            <a:r>
              <a:t>Timeline &amp; Milestones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5722"/>
                </a:solidFill>
                <a:latin typeface="Space Grotesk"/>
              </a:defRPr>
            </a:pPr>
            <a:r>
              <a:t>Key Go/No-Go Gates at Weeks 4, 12, 20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05840"/>
            <a:ext cx="11612880" cy="4754880"/>
          </a:xfrm>
          <a:prstGeom prst="rect">
            <a:avLst/>
          </a:prstGeom>
          <a:solidFill>
            <a:srgbClr val="2D2D2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0"/>
            <a:ext cx="11430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/>
            <a:pPr>
              <a:defRPr sz="900">
                <a:solidFill>
                  <a:srgbClr val="FFFFFF"/>
                </a:solidFill>
                <a:latin typeface="Courier New"/>
              </a:defRPr>
            </a:pPr>
            <a:r>
              <a:t>┌────────────────────────────────────────────────────────────────────┐</a:t>
            </a:r>
            <a:br/>
            <a:r>
              <a:t>│  GAIA DEVELOPMENT TIMELINE (20 Weeks)                              │</a:t>
            </a:r>
            <a:br/>
            <a:r>
              <a:t>├────────────────────────────────────────────────────────────────────┤</a:t>
            </a:r>
            <a:br/>
            <a:r>
              <a:t>│                                                                     │</a:t>
            </a:r>
            <a:br/>
            <a:r>
              <a:t>│  WEEK 1-4:    PHASE 1 - Core Pipeline Engine          [M1: GO]     │</a:t>
            </a:r>
            <a:br/>
            <a:r>
              <a:t>│               ████████                                              │</a:t>
            </a:r>
            <a:br/>
            <a:r>
              <a:t>│                                                                     │</a:t>
            </a:r>
            <a:br/>
            <a:r>
              <a:t>│  WEEK 5-12:   PHASE 2 - Productization               [M2: GO]       │</a:t>
            </a:r>
            <a:br/>
            <a:r>
              <a:t>│               ████████████████                                      │</a:t>
            </a:r>
            <a:br/>
            <a:r>
              <a:t>│                                                                     │</a:t>
            </a:r>
            <a:br/>
            <a:r>
              <a:t>│  WEEK 13-20:  PHASE 3 - AMD Ryzen AI Integration     [M3: GO]       │</a:t>
            </a:r>
            <a:br/>
            <a:r>
              <a:t>│               ████████████████                                      │</a:t>
            </a:r>
            <a:br/>
            <a:r>
              <a:t>│                                                                     │</a:t>
            </a:r>
            <a:br/>
            <a:r>
              <a:t>├────────────────────────────────────────────────────────────────────┤</a:t>
            </a:r>
            <a:br/>
            <a:r>
              <a:t>│  MILESTONES:                                                       │</a:t>
            </a:r>
            <a:br/>
            <a:r>
              <a:t>│  M1 (Week 4):  Methodology captured, reproducible                  │</a:t>
            </a:r>
            <a:br/>
            <a:r>
              <a:t>│  M2 (Week 12): 90+ quality score on 10+ agents                     │</a:t>
            </a:r>
            <a:br/>
            <a:r>
              <a:t>│  M3 (Week 20): 10x efficiency, production-ready                    │</a:t>
            </a:r>
            <a:br/>
            <a:r>
              <a:t>└────────────────────────────────────────────────────────────────────┘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solidFill>
                  <a:srgbClr val="FF5722"/>
                </a:solidFill>
                <a:latin typeface="Archivo Black"/>
              </a:defRPr>
            </a:pPr>
            <a:r>
              <a:t>Recursive Loop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5722"/>
                </a:solidFill>
                <a:latin typeface="Space Grotesk"/>
              </a:defRPr>
            </a:pPr>
            <a:r>
              <a:t>Each Component Goes Through Quality-Gated Loop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05840"/>
            <a:ext cx="11612880" cy="4754880"/>
          </a:xfrm>
          <a:prstGeom prst="rect">
            <a:avLst/>
          </a:prstGeom>
          <a:solidFill>
            <a:srgbClr val="2D2D2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0"/>
            <a:ext cx="11430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/>
            <a:pPr>
              <a:defRPr sz="900">
                <a:solidFill>
                  <a:srgbClr val="FFFFFF"/>
                </a:solidFill>
                <a:latin typeface="Courier New"/>
              </a:defRPr>
            </a:pPr>
            <a:r>
              <a:t>┌─────────────────────────────────────────────────────────────────────────┐</a:t>
            </a:r>
            <a:br/>
            <a:r>
              <a:t>│  IMPLEMENTATION LOOP STRUCTURE (Quality-Gated)                          │</a:t>
            </a:r>
            <a:br/>
            <a:r>
              <a:t>├─────────────────────────────────────────────────────────────────────────┤</a:t>
            </a:r>
            <a:br/>
            <a:r>
              <a:t>│                                                                          │</a:t>
            </a:r>
            <a:br/>
            <a:r>
              <a:t>│  LOOP 1: Core Pipeline Engine                                           │</a:t>
            </a:r>
            <a:br/>
            <a:r>
              <a:t>│  Planning (architect) → Dev (implement) → QA (review) → Decision       │</a:t>
            </a:r>
            <a:br/>
            <a:r>
              <a:t>│  [Quality Gate: 90/100 → Ship or Loop]                                  │</a:t>
            </a:r>
            <a:br/>
            <a:r>
              <a:t>│                                                                          │</a:t>
            </a:r>
            <a:br/>
            <a:r>
              <a:t>│  LOOP 2: Quality Scorer                                                 │</a:t>
            </a:r>
            <a:br/>
            <a:r>
              <a:t>│  Planning (define 25+ categories) → Dev (scorer.py) → QA (validate)    │</a:t>
            </a:r>
            <a:br/>
            <a:r>
              <a:t>│  [Quality Gate: 90/100 → Ship or Loop]                                  │</a:t>
            </a:r>
            <a:br/>
            <a:r>
              <a:t>│                                                                          │</a:t>
            </a:r>
            <a:br/>
            <a:r>
              <a:t>│  LOOP 3: Agent Registry                                                 │</a:t>
            </a:r>
            <a:br/>
            <a:r>
              <a:t>│  Planning (catalog structure) → Dev (registry.py) → QA (routing test)  │</a:t>
            </a:r>
            <a:br/>
            <a:r>
              <a:t>│  [Quality Gate: 90/100 → Ship or Loop]                                  │</a:t>
            </a:r>
            <a:br/>
            <a:r>
              <a:t>│                                                                          │</a:t>
            </a:r>
            <a:br/>
            <a:r>
              <a:t>│  LOOP 4: Hook System                                                    │</a:t>
            </a:r>
            <a:br/>
            <a:r>
              <a:t>│  Planning (Safe Haven patterns) → Dev (4 hooks) → QA (integration)     │</a:t>
            </a:r>
            <a:br/>
            <a:r>
              <a:t>│  [Quality Gate: 90/100 → Ship or Loop]                                  │</a:t>
            </a:r>
            <a:br/>
            <a:r>
              <a:t>│                                                                          │</a:t>
            </a:r>
            <a:br/>
            <a:r>
              <a:t>│  LOOP 5: Templates &amp; Config                                             │</a:t>
            </a:r>
            <a:br/>
            <a:r>
              <a:t>│  Planning (template specs) → Dev (YAML configs) → QA (validation)      │</a:t>
            </a:r>
            <a:br/>
            <a:r>
              <a:t>│  [Quality Gate: 85/100 → Ship or Loop]                                  │</a:t>
            </a:r>
            <a:br/>
            <a:r>
              <a:t>│                                                                          │</a:t>
            </a:r>
            <a:br/>
            <a:r>
              <a:t>│  LOOP 6: Test Suite                                                     │</a:t>
            </a:r>
            <a:br/>
            <a:r>
              <a:t>│  Planning (test strategy) → Dev (pytest tests) → QA (coverage check)   │</a:t>
            </a:r>
            <a:br/>
            <a:r>
              <a:t>│  [Quality Gate: 95/100 → Ship or Loop]                                  │</a:t>
            </a:r>
            <a:br/>
            <a:r>
              <a:t>│                                                                          │</a:t>
            </a:r>
            <a:br/>
            <a:r>
              <a:t>└─────────────────────────────────────────────────────────────────────────┘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solidFill>
                  <a:srgbClr val="FF5722"/>
                </a:solidFill>
                <a:latin typeface="Archivo Black"/>
              </a:defRPr>
            </a:pPr>
            <a:r>
              <a:t>Agent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5722"/>
                </a:solidFill>
                <a:latin typeface="Space Grotesk"/>
              </a:defRPr>
            </a:pPr>
            <a:r>
              <a:t>Recursive Iterative Loop with Quality Gates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05840"/>
            <a:ext cx="11612880" cy="4754880"/>
          </a:xfrm>
          <a:prstGeom prst="rect">
            <a:avLst/>
          </a:prstGeom>
          <a:solidFill>
            <a:srgbClr val="2D2D2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0"/>
            <a:ext cx="11430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/>
            <a:pPr>
              <a:defRPr sz="900">
                <a:solidFill>
                  <a:srgbClr val="FFFFFF"/>
                </a:solidFill>
                <a:latin typeface="Courier New"/>
              </a:defRPr>
            </a:pPr>
            <a:r>
              <a:t>┌─────────────────────────────────────────────────────────────────────────┐</a:t>
            </a:r>
            <a:br/>
            <a:r>
              <a:t>│  AGENT WORKFLOW FOR GAIA IMPLEMENTATION                                 │</a:t>
            </a:r>
            <a:br/>
            <a:r>
              <a:t>├─────────────────────────────────────────────────────────────────────────┤</a:t>
            </a:r>
            <a:br/>
            <a:r>
              <a:t>│                                                                          │</a:t>
            </a:r>
            <a:br/>
            <a:r>
              <a:t>│  1. @planning-analysis-strategist (Dr. Sarah Kim)                       │</a:t>
            </a:r>
            <a:br/>
            <a:r>
              <a:t>│     → Technical planning, architecture design, requirements analysis    │</a:t>
            </a:r>
            <a:br/>
            <a:r>
              <a:t>│     → Output: Implementation plan, file structure, component specs      │</a:t>
            </a:r>
            <a:br/>
            <a:r>
              <a:t>│                                                                          │</a:t>
            </a:r>
            <a:br/>
            <a:r>
              <a:t>│     ↓ [Pass to Development]                                              │</a:t>
            </a:r>
            <a:br/>
            <a:r>
              <a:t>│                                                                          │</a:t>
            </a:r>
            <a:br/>
            <a:r>
              <a:t>│  2. @senior-developer                                                   │</a:t>
            </a:r>
            <a:br/>
            <a:r>
              <a:t>│     → Code implementation, component development                        │</a:t>
            </a:r>
            <a:br/>
            <a:r>
              <a:t>│     → Output: Working code, unit tests, documentation                   │</a:t>
            </a:r>
            <a:br/>
            <a:r>
              <a:t>│                                                                          │</a:t>
            </a:r>
            <a:br/>
            <a:r>
              <a:t>│     ↓ [Pass to Quality]                                                  │</a:t>
            </a:r>
            <a:br/>
            <a:r>
              <a:t>│                                                                          │</a:t>
            </a:r>
            <a:br/>
            <a:r>
              <a:t>│  3. @quality-reviewer                                                   │</a:t>
            </a:r>
            <a:br/>
            <a:r>
              <a:t>│     → 25+ category validation, quality scoring                          │</a:t>
            </a:r>
            <a:br/>
            <a:r>
              <a:t>│     → Output: Quality report, defect list, score (0-100)                │</a:t>
            </a:r>
            <a:br/>
            <a:r>
              <a:t>│                                                                          │</a:t>
            </a:r>
            <a:br/>
            <a:r>
              <a:t>│     ↓ [Decision: Score &gt;= 90?]                                           │</a:t>
            </a:r>
            <a:br/>
            <a:r>
              <a:t>│                                                                          │</a:t>
            </a:r>
            <a:br/>
            <a:r>
              <a:t>│     YES → @software-program-manager → SHIP ✓                            │</a:t>
            </a:r>
            <a:br/>
            <a:r>
              <a:t>│     NO  → Loop back to @planning-analysis-strategist (with defects)     │</a:t>
            </a:r>
            <a:br/>
            <a:r>
              <a:t>│                                                                          │</a:t>
            </a:r>
            <a:br/>
            <a:r>
              <a:t>└─────────────────────────────────────────────────────────────────────────┘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solidFill>
                  <a:srgbClr val="FF5722"/>
                </a:solidFill>
                <a:latin typeface="Archivo Black"/>
              </a:defRPr>
            </a:pPr>
            <a:r>
              <a:t>AMD Partnership Requirements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914400"/>
          <a:ext cx="1124712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73152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rchivo Black"/>
                        </a:defRPr>
                      </a:pPr>
                      <a:r>
                        <a:t>Resource</a:t>
                      </a:r>
                    </a:p>
                  </a:txBody>
                  <a:tcPr>
                    <a:solidFill>
                      <a:srgbClr val="FF57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rchivo Black"/>
                        </a:defRPr>
                      </a:pPr>
                      <a:r>
                        <a:t>Purpose</a:t>
                      </a:r>
                    </a:p>
                  </a:txBody>
                  <a:tcPr>
                    <a:solidFill>
                      <a:srgbClr val="FF57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rchivo Black"/>
                        </a:defRPr>
                      </a:pPr>
                      <a:r>
                        <a:t>Impact</a:t>
                      </a:r>
                    </a:p>
                  </a:txBody>
                  <a:tcPr>
                    <a:solidFill>
                      <a:srgbClr val="FF5722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Ryzen AI Dev Kit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Hardware optimization testing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Enable NPU targeting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Technical Partnership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NPU execution guidance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Accelerate Phase 3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Go-to-Market Support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Enterprise introductions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Early adopter pipeline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Marketing/PR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AMD-optimized positioning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Developer adoption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>
                <a:solidFill>
                  <a:srgbClr val="FF5722"/>
                </a:solidFill>
                <a:latin typeface="Archivo Black"/>
              </a:defRPr>
            </a:pPr>
            <a:r>
              <a:t>Business Case &amp; ROI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Space Grotesk"/>
              </a:defRPr>
            </a:pPr>
            <a:r>
              <a:t>ROI ANALYSIS:</a:t>
            </a:r>
          </a:p>
          <a:p>
            <a:pPr>
              <a:defRPr sz="1600">
                <a:solidFill>
                  <a:srgbClr val="FFFFFF"/>
                </a:solidFill>
                <a:latin typeface="Space Grotesk"/>
              </a:defRPr>
            </a:pPr>
          </a:p>
          <a:p>
            <a:pPr>
              <a:defRPr sz="1400">
                <a:solidFill>
                  <a:srgbClr val="FFFFFF"/>
                </a:solidFill>
                <a:latin typeface="Space Grotesk"/>
              </a:defRPr>
            </a:pPr>
            <a:r>
              <a:t>Developer time saved: 20 hrs/week × $100/hr × 50 weeks = $100K/dev/year</a:t>
            </a:r>
          </a:p>
          <a:p>
            <a:pPr>
              <a:defRPr sz="1400">
                <a:solidFill>
                  <a:srgbClr val="FFFFFF"/>
                </a:solidFill>
                <a:latin typeface="Space Grotesk"/>
              </a:defRPr>
            </a:pPr>
            <a:r>
              <a:t>Team of 5 developers: $500K/year savings</a:t>
            </a:r>
          </a:p>
          <a:p>
            <a:pPr>
              <a:defRPr sz="1400">
                <a:solidFill>
                  <a:srgbClr val="FFFFFF"/>
                </a:solidFill>
                <a:latin typeface="Space Grotesk"/>
              </a:defRPr>
            </a:pPr>
            <a:r>
              <a:t>Cloud cost reduction (local LLM): ~$50K/year</a:t>
            </a:r>
          </a:p>
          <a:p>
            <a:pPr>
              <a:defRPr sz="1400">
                <a:solidFill>
                  <a:srgbClr val="FFFFFF"/>
                </a:solidFill>
                <a:latin typeface="Space Grotesk"/>
              </a:defRPr>
            </a:pPr>
            <a:r>
              <a:t>Quality improvement (fewer bugs): ~$100K/year</a:t>
            </a:r>
          </a:p>
          <a:p>
            <a:pPr>
              <a:defRPr sz="1600">
                <a:solidFill>
                  <a:srgbClr val="FFFFFF"/>
                </a:solidFill>
                <a:latin typeface="Space Grotesk"/>
              </a:defRPr>
            </a:pPr>
          </a:p>
          <a:p>
            <a:pPr>
              <a:defRPr sz="1800" b="1">
                <a:solidFill>
                  <a:srgbClr val="FFFFFF"/>
                </a:solidFill>
                <a:latin typeface="Space Grotesk"/>
              </a:defRPr>
            </a:pPr>
            <a:r>
              <a:t>TOTAL: $650K+/year per enterprise team</a:t>
            </a:r>
          </a:p>
          <a:p>
            <a:pPr>
              <a:defRPr sz="1600">
                <a:solidFill>
                  <a:srgbClr val="FFFFFF"/>
                </a:solidFill>
                <a:latin typeface="Space Grotesk"/>
              </a:defRPr>
            </a:pPr>
          </a:p>
          <a:p>
            <a:pPr>
              <a:defRPr sz="1800" b="1">
                <a:solidFill>
                  <a:srgbClr val="FFFFFF"/>
                </a:solidFill>
                <a:latin typeface="Space Grotesk"/>
              </a:defRPr>
            </a:pPr>
            <a:r>
              <a:t>MARKET OPPORTUNITY:</a:t>
            </a:r>
          </a:p>
          <a:p>
            <a:pPr>
              <a:defRPr sz="1600">
                <a:solidFill>
                  <a:srgbClr val="FFFFFF"/>
                </a:solidFill>
                <a:latin typeface="Space Grotesk"/>
              </a:defRPr>
            </a:pPr>
            <a:r>
              <a:t>• Year 1: 50 customers, $8M ARR</a:t>
            </a:r>
          </a:p>
          <a:p>
            <a:pPr>
              <a:defRPr sz="1600">
                <a:solidFill>
                  <a:srgbClr val="FFFFFF"/>
                </a:solidFill>
                <a:latin typeface="Space Grotesk"/>
              </a:defRPr>
            </a:pPr>
            <a:r>
              <a:t>• Year 2: 200 customers, $65M ARR</a:t>
            </a:r>
          </a:p>
          <a:p>
            <a:pPr>
              <a:defRPr sz="1600">
                <a:solidFill>
                  <a:srgbClr val="FFFFFF"/>
                </a:solidFill>
                <a:latin typeface="Space Grotesk"/>
              </a:defRPr>
            </a:pPr>
            <a:r>
              <a:t>• Year 3: 500 customers, $250M ARR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>
                <a:solidFill>
                  <a:srgbClr val="FF5722"/>
                </a:solidFill>
                <a:latin typeface="Archivo Black"/>
              </a:defRPr>
            </a:pPr>
            <a:r>
              <a:t>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Space Grotesk"/>
              </a:defRPr>
            </a:pPr>
            <a:r>
              <a:t>IMMEDIATE ACTIONS REQUIRED:</a:t>
            </a:r>
          </a:p>
          <a:p>
            <a:pPr>
              <a:defRPr sz="1600">
                <a:solidFill>
                  <a:srgbClr val="FFFFFF"/>
                </a:solidFill>
                <a:latin typeface="Space Grotesk"/>
              </a:defRPr>
            </a:pPr>
          </a:p>
          <a:p>
            <a:pPr>
              <a:defRPr sz="1800">
                <a:solidFill>
                  <a:srgbClr val="FFFFFF"/>
                </a:solidFill>
                <a:latin typeface="Space Grotesk"/>
              </a:defRPr>
            </a:pPr>
            <a:r>
              <a:t>1. APPROVE implementation plan</a:t>
            </a:r>
          </a:p>
          <a:p>
            <a:pPr>
              <a:defRPr sz="1800">
                <a:solidFill>
                  <a:srgbClr val="FFFFFF"/>
                </a:solidFill>
                <a:latin typeface="Space Grotesk"/>
              </a:defRPr>
            </a:pPr>
            <a:r>
              <a:t>2. Allocate resources (10 FTE across 20 weeks)</a:t>
            </a:r>
          </a:p>
          <a:p>
            <a:pPr>
              <a:defRPr sz="1800">
                <a:solidFill>
                  <a:srgbClr val="FFFFFF"/>
                </a:solidFill>
                <a:latin typeface="Space Grotesk"/>
              </a:defRPr>
            </a:pPr>
            <a:r>
              <a:t>3. Initiate AMD partnership discussions</a:t>
            </a:r>
          </a:p>
          <a:p>
            <a:pPr>
              <a:defRPr sz="1800">
                <a:solidFill>
                  <a:srgbClr val="FFFFFF"/>
                </a:solidFill>
                <a:latin typeface="Space Grotesk"/>
              </a:defRPr>
            </a:pPr>
            <a:r>
              <a:t>4. Schedule Phase 1 kickoff (Week 0)</a:t>
            </a:r>
          </a:p>
          <a:p>
            <a:pPr>
              <a:defRPr sz="1600">
                <a:solidFill>
                  <a:srgbClr val="FFFFFF"/>
                </a:solidFill>
                <a:latin typeface="Space Grotesk"/>
              </a:defRPr>
            </a:pPr>
          </a:p>
          <a:p>
            <a:pPr>
              <a:defRPr sz="1800" b="1">
                <a:solidFill>
                  <a:srgbClr val="FFFFFF"/>
                </a:solidFill>
                <a:latin typeface="Space Grotesk"/>
              </a:defRPr>
            </a:pPr>
            <a:r>
              <a:t>WEEK 0 ACTIVITIES:</a:t>
            </a:r>
          </a:p>
          <a:p>
            <a:pPr>
              <a:defRPr sz="1600">
                <a:solidFill>
                  <a:srgbClr val="FFFFFF"/>
                </a:solidFill>
                <a:latin typeface="Space Grotesk"/>
              </a:defRPr>
            </a:pPr>
            <a:r>
              <a:t>• Team onboarding</a:t>
            </a:r>
          </a:p>
          <a:p>
            <a:pPr>
              <a:defRPr sz="1600">
                <a:solidFill>
                  <a:srgbClr val="FFFFFF"/>
                </a:solidFill>
                <a:latin typeface="Space Grotesk"/>
              </a:defRPr>
            </a:pPr>
            <a:r>
              <a:t>• Development environment setup</a:t>
            </a:r>
          </a:p>
          <a:p>
            <a:pPr>
              <a:defRPr sz="1600">
                <a:solidFill>
                  <a:srgbClr val="FFFFFF"/>
                </a:solidFill>
                <a:latin typeface="Space Grotesk"/>
              </a:defRPr>
            </a:pPr>
            <a:r>
              <a:t>• Repository initialization</a:t>
            </a:r>
          </a:p>
          <a:p>
            <a:pPr>
              <a:defRPr sz="1600">
                <a:solidFill>
                  <a:srgbClr val="FFFFFF"/>
                </a:solidFill>
                <a:latin typeface="Space Grotesk"/>
              </a:defRPr>
            </a:pPr>
            <a:r>
              <a:t>• Begin Phase 1: Core Pipeline Engine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>
                <a:solidFill>
                  <a:srgbClr val="FF5722"/>
                </a:solidFill>
                <a:latin typeface="Archivo Black"/>
              </a:defRPr>
            </a:pPr>
            <a: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FFFF"/>
                </a:solidFill>
                <a:latin typeface="Space Grotesk"/>
              </a:defRPr>
            </a:pPr>
            <a:r>
              <a:t>GAIA IMPLEMENTATION SUMMARY</a:t>
            </a:r>
            <a:br/>
            <a:br/>
            <a:r>
              <a:t>"One Prompt → Complete Feature" Capability</a:t>
            </a:r>
            <a:br/>
            <a:br/>
            <a:r>
              <a:t>Proven Foundation:</a:t>
            </a:r>
            <a:br/>
            <a:r>
              <a:t>• Safe Haven: 8 production hooks in Claude Code</a:t>
            </a:r>
            <a:br/>
            <a:r>
              <a:t>• 99.8% test pass rate (1120/1122 tests)</a:t>
            </a:r>
            <a:br/>
            <a:r>
              <a:t>• 41.8K+ BMAD-METHOD stars (template contributor)</a:t>
            </a:r>
            <a:br/>
            <a:br/>
            <a:r>
              <a:t>Implementation: 20 weeks to production-ready</a:t>
            </a:r>
            <a:br/>
            <a:r>
              <a:t>• Phase 1: Core Pipeline Engine (Weeks 1-4)</a:t>
            </a:r>
            <a:br/>
            <a:r>
              <a:t>• Phase 2: Productization (Weeks 5-12)</a:t>
            </a:r>
            <a:br/>
            <a:r>
              <a:t>• Phase 3: AMD Ryzen AI Integration (Weeks 13-20)</a:t>
            </a:r>
            <a:br/>
            <a:br/>
            <a:r>
              <a:t>Quality Gates: 90/100 threshold with recursive iteration</a:t>
            </a:r>
            <a:br/>
            <a:r>
              <a:t>Resources: 10 FTE across 3 phases</a:t>
            </a:r>
            <a:br/>
            <a:r>
              <a:t>Business Impact: $650K+/year per enterprise team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>
                <a:solidFill>
                  <a:srgbClr val="FF5722"/>
                </a:solidFill>
                <a:latin typeface="Archivo Black"/>
              </a:defRPr>
            </a:pPr>
            <a:r>
              <a:t>Let's Build This Together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332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Space Grotesk"/>
              </a:defRPr>
            </a:pPr>
            <a:r>
              <a:t>Anthony Mikinka</a:t>
            </a:r>
          </a:p>
          <a:p>
            <a:pPr algn="ctr">
              <a:defRPr sz="2000">
                <a:solidFill>
                  <a:srgbClr val="FFFFFF"/>
                </a:solidFill>
                <a:latin typeface="Space Grotesk"/>
              </a:defRPr>
            </a:pPr>
            <a:r>
              <a:t>AI Engineer &amp; Agent Ecosystem Creator</a:t>
            </a:r>
          </a:p>
          <a:p>
            <a:pPr algn="ctr">
              <a:defRPr sz="2000">
                <a:solidFill>
                  <a:srgbClr val="FFFFFF"/>
                </a:solidFill>
                <a:latin typeface="Space Grotesk"/>
              </a:defRPr>
            </a:pPr>
          </a:p>
          <a:p>
            <a:pPr algn="ctr">
              <a:defRPr sz="2000">
                <a:solidFill>
                  <a:srgbClr val="FFFFFF"/>
                </a:solidFill>
                <a:latin typeface="Space Grotesk"/>
              </a:defRPr>
            </a:pPr>
            <a:r>
              <a:t>GitHub: github.com/antmikinka</a:t>
            </a:r>
          </a:p>
          <a:p>
            <a:pPr algn="ctr">
              <a:defRPr sz="2000">
                <a:solidFill>
                  <a:srgbClr val="FFFFFF"/>
                </a:solidFill>
                <a:latin typeface="Space Grotesk"/>
              </a:defRPr>
            </a:pPr>
            <a:r>
              <a:t>Email: [your email]</a:t>
            </a:r>
          </a:p>
          <a:p>
            <a:pPr algn="ctr">
              <a:defRPr sz="2000">
                <a:solidFill>
                  <a:srgbClr val="FFFFFF"/>
                </a:solidFill>
                <a:latin typeface="Space Grotesk"/>
              </a:defRPr>
            </a:pPr>
          </a:p>
          <a:p>
            <a:pPr algn="ctr">
              <a:defRPr sz="2000">
                <a:solidFill>
                  <a:srgbClr val="FFFFFF"/>
                </a:solidFill>
                <a:latin typeface="Space Grotesk"/>
              </a:defRPr>
            </a:pPr>
            <a:r>
              <a:t>Strategic Assessment: Adrian-Macias AI Technology Advisor</a:t>
            </a:r>
          </a:p>
          <a:p>
            <a:pPr algn="ctr">
              <a:defRPr sz="2000">
                <a:solidFill>
                  <a:srgbClr val="FFFFFF"/>
                </a:solidFill>
                <a:latin typeface="Space Grotesk"/>
              </a:defRPr>
            </a:pPr>
            <a:r>
              <a:t>Decision: APPROVE WITH CONDITIONS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